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2551af6-3a6e-34e9-53ac-b547662e56d8}">
          <p14:sldIdLst>
            <p14:sldId id="256"/>
            <p14:sldId id="257"/>
          </p14:sldIdLst>
        </p14:section>
        <p14:section name="Données" id="{7042b280-c44d-faf4-ba9c-5b16423fe699}">
          <p14:sldIdLst>
            <p14:sldId id="258"/>
            <p14:sldId id="259"/>
          </p14:sldIdLst>
        </p14:section>
        <p14:section name="Modélisation" id="{8a3114a6-a600-1656-a15e-ebfd819a14d3}">
          <p14:sldIdLst>
            <p14:sldId id="260"/>
            <p14:sldId id="261"/>
            <p14:sldId id="262"/>
            <p14:sldId id="263"/>
          </p14:sldIdLst>
        </p14:section>
        <p14:section name="Résultats" id="{6f1fb10f-58a3-78d6-c7d6-b86e1ba475ee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: un filtre anti-spam construit avec du machine learning classique, en suivant la démarche de bout en bout du livre Hands-On Machine Learning d'Aurélien Géron.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L'accuracy seule est trompeuse car les classes sont déséquilibrées. Perdre un vrai email est plus grave que laisser passer un spam : on privilégie donc la précision, tout en surveillant le rappel.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doublons sont supprimés avant le découpage : sinon un même email pourrait se trouver dans le train et dans le test, et l'évaluation serait trop optimiste. Le découpage est stratifié pour garder 40 % de spam des deux côtés.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checklist du chapitre 2 du livre, complétée par le chapitre 3 pour le compromis précision/rappel. Le point clé : le jeu de test est mis de côté avant toute exploration et n'est utilisé qu'une seule fois, à la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mots les plus corrélés au spam parlent d'argent et poussent à agir. Les mots liés au ham viennent de l'entreprise qui a fourni les données (George, HP Labs) : le modèle sera très bon sur ces données, mais ne se généralisera pas forcément à une autre boîte 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variables sont des pourcentages très asymétriques : le livre recommande une transformation logarithmique dans ce cas, puis une mise à l'échelle, indispensable pour la régression logistique et le SVM. Tout est regroupé dans un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Tous les modèles sont comparés avec leurs hyperparamètres par défaut, sur le train uniquement, par validation croisée stratifiée à 10 plis. Gaussian NB a un bon rappel mais une mauvaise précision : il classe beaucoup de vrais emails en spam, exactement ce qu'on veut éviter.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GridSearchCV teste toutes les combinaisons d'hyperparamètres en optimisant l'average precision, c'est-à-dire l'aire sous la courbe précision/rappel. La forêt s'appuie surtout sur les points d'exclamation, le symbole dollar et quelques mots typiques : des indices qui ont du sens.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 défaut, la forêt dit spam au-dessus d'une probabilité de 0,5. En montant le seuil, on gagne en précision et on perd en rappel. Ce choix est un choix métier : on a pris le plus petit seuil qui garantit 98 % de précision.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 le jeu de test, utilisé une seule fois, seuls 3 vrais emails sur 506 finissent dans les spams, et 4 spams sur 5 sont arrêtés. Intervalle de confiance à 95 % de la précision par bootstrap : 97,5 % à 100 %. Les spams ratés sont des spams discrets, sans indice typique.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Email Spam Detector · Wissem Sahli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Email Spam Detector · Wissem Sahli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Email Spam Detector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Détecter les spams avec du machine learning classique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Méthodologie Hands-On Machine Learning (A. Géron) · Python · scikit-learn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Wissem Sahli</a:t>
            </a:r>
            <a:endParaRPr lang="en-US" sz="1400" dirty="0"/>
          </a:p>
        </p:txBody>
      </p:sp>
      <p:sp>
        <p:nvSpPr>
          <p:cNvPr id="6" name="Email cercle"/>
          <p:cNvSpPr/>
          <p:nvPr/>
        </p:nvSpPr>
        <p:spPr>
          <a:xfrm>
            <a:off x="6400800" y="141732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Email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3370" y="1859890"/>
            <a:ext cx="1126541" cy="1126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problème : quelle erreur coûte le plus 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Classification binaire supervisée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chaque email est soit un spam (1), soit un email légitime, appelé « ham » (0).</a:t>
            </a:r>
            <a:endParaRPr lang="en-US" sz="1600" dirty="0"/>
          </a:p>
        </p:txBody>
      </p:sp>
      <p:sp>
        <p:nvSpPr>
          <p:cNvPr id="4" name="Carte Faux positif : grave"/>
          <p:cNvSpPr/>
          <p:nvPr/>
        </p:nvSpPr>
        <p:spPr>
          <a:xfrm>
            <a:off x="457200" y="178308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aux positif : grave cercle"/>
          <p:cNvSpPr/>
          <p:nvPr/>
        </p:nvSpPr>
        <p:spPr>
          <a:xfrm>
            <a:off x="731520" y="20574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aux positif : grav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2082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Faux positif : grave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 vrai email part dans les spams. L'utilisateur peut rater un message important.</a:t>
            </a:r>
            <a:endParaRPr lang="en-US" sz="1400" dirty="0"/>
          </a:p>
        </p:txBody>
      </p:sp>
      <p:sp>
        <p:nvSpPr>
          <p:cNvPr id="9" name="Carte Faux négatif : gênant"/>
          <p:cNvSpPr/>
          <p:nvPr/>
        </p:nvSpPr>
        <p:spPr>
          <a:xfrm>
            <a:off x="4709160" y="178308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aux négatif : gênant cercle"/>
          <p:cNvSpPr/>
          <p:nvPr/>
        </p:nvSpPr>
        <p:spPr>
          <a:xfrm>
            <a:off x="4983480" y="205740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Faux négatif : gênant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356" y="22082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5216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Faux négatif : gênant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 spam arrive dans la boîte de réception. L'utilisateur le supprime.</a:t>
            </a:r>
            <a:endParaRPr lang="en-US" sz="1400" dirty="0"/>
          </a:p>
        </p:txBody>
      </p:sp>
      <p:sp>
        <p:nvSpPr>
          <p:cNvPr id="14" name="Carte métrique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Métrique principale : la précision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Parmi les emails classés spam, au moins 98 % doivent vraiment en être, avec le meilleur rappel possible.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données : UCI Spambase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4 601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emails (HP Labs, 1999)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097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variables numériques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097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39,4 %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 spams</a:t>
            </a:r>
            <a:endParaRPr lang="en-US" sz="1400" dirty="0"/>
          </a:p>
        </p:txBody>
      </p:sp>
      <p:sp>
        <p:nvSpPr>
          <p:cNvPr id="9" name="Carte variables"/>
          <p:cNvSpPr/>
          <p:nvPr/>
        </p:nvSpPr>
        <p:spPr>
          <a:xfrm>
            <a:off x="457200" y="246888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Variables cercle"/>
          <p:cNvSpPr/>
          <p:nvPr/>
        </p:nvSpPr>
        <p:spPr>
          <a:xfrm>
            <a:off x="685800" y="26974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Variable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81818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7160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 que décrivent les variables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48 fréquences de mots (free, money…)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fréquences de caractères (!, $, #…)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longueurs de suites de MAJUSCULES</a:t>
            </a:r>
            <a:endParaRPr lang="en-US" sz="1400" dirty="0"/>
          </a:p>
        </p:txBody>
      </p:sp>
      <p:sp>
        <p:nvSpPr>
          <p:cNvPr id="14" name="Carte jeu de test"/>
          <p:cNvSpPr/>
          <p:nvPr/>
        </p:nvSpPr>
        <p:spPr>
          <a:xfrm>
            <a:off x="4709160" y="246888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écoupage cercle"/>
          <p:cNvSpPr/>
          <p:nvPr/>
        </p:nvSpPr>
        <p:spPr>
          <a:xfrm>
            <a:off x="4937760" y="2697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Découpage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281818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62356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Nettoyage et jeu de test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93776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Aucune valeur manquante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391 doublons supprimés : 4 210 emails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Découpage stratifié 80/20 : 3 368 train, 842 test, mis de côté tout de suite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démarche Hands-On ML, étape par étape</a:t>
            </a:r>
            <a:endParaRPr lang="en-US" sz="3000" dirty="0"/>
          </a:p>
        </p:txBody>
      </p:sp>
      <p:sp>
        <p:nvSpPr>
          <p:cNvPr id="3" name="Étape 1"/>
          <p:cNvSpPr/>
          <p:nvPr/>
        </p:nvSpPr>
        <p:spPr>
          <a:xfrm>
            <a:off x="45720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éro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Problème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Métrique : précision</a:t>
            </a:r>
            <a:endParaRPr lang="en-US" sz="1200" dirty="0"/>
          </a:p>
        </p:txBody>
      </p:sp>
      <p:sp>
        <p:nvSpPr>
          <p:cNvPr id="8" name="Étape 2"/>
          <p:cNvSpPr/>
          <p:nvPr/>
        </p:nvSpPr>
        <p:spPr>
          <a:xfrm>
            <a:off x="256032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éro 2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Données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Téléchargement UCI</a:t>
            </a:r>
            <a:endParaRPr lang="en-US" sz="1200" dirty="0"/>
          </a:p>
        </p:txBody>
      </p:sp>
      <p:sp>
        <p:nvSpPr>
          <p:cNvPr id="13" name="Étape 3"/>
          <p:cNvSpPr/>
          <p:nvPr/>
        </p:nvSpPr>
        <p:spPr>
          <a:xfrm>
            <a:off x="466344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éro 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Jeu de test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Stratifié, mis de côté</a:t>
            </a:r>
            <a:endParaRPr lang="en-US" sz="1200" dirty="0"/>
          </a:p>
        </p:txBody>
      </p:sp>
      <p:sp>
        <p:nvSpPr>
          <p:cNvPr id="18" name="Étape 4"/>
          <p:cNvSpPr/>
          <p:nvPr/>
        </p:nvSpPr>
        <p:spPr>
          <a:xfrm>
            <a:off x="676656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éro 4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Exploration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Sur le train seulement</a:t>
            </a:r>
            <a:endParaRPr lang="en-US" sz="1200" dirty="0"/>
          </a:p>
        </p:txBody>
      </p:sp>
      <p:sp>
        <p:nvSpPr>
          <p:cNvPr id="23" name="Étape 5"/>
          <p:cNvSpPr/>
          <p:nvPr/>
        </p:nvSpPr>
        <p:spPr>
          <a:xfrm>
            <a:off x="457200" y="29260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éro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Préparation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Pipeline log + scaling</a:t>
            </a:r>
            <a:endParaRPr lang="en-US" sz="1200" dirty="0"/>
          </a:p>
        </p:txBody>
      </p:sp>
      <p:sp>
        <p:nvSpPr>
          <p:cNvPr id="28" name="Étape 6"/>
          <p:cNvSpPr/>
          <p:nvPr/>
        </p:nvSpPr>
        <p:spPr>
          <a:xfrm>
            <a:off x="2560320" y="29260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éro 6"/>
          <p:cNvSpPr/>
          <p:nvPr/>
        </p:nvSpPr>
        <p:spPr>
          <a:xfrm>
            <a:off x="2743200" y="31089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Modèles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0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Validation croisée</a:t>
            </a:r>
            <a:endParaRPr lang="en-US" sz="1200" dirty="0"/>
          </a:p>
        </p:txBody>
      </p:sp>
      <p:sp>
        <p:nvSpPr>
          <p:cNvPr id="33" name="Étape 7"/>
          <p:cNvSpPr/>
          <p:nvPr/>
        </p:nvSpPr>
        <p:spPr>
          <a:xfrm>
            <a:off x="4663440" y="29260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Numéro 7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Fine-tuning + seuil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GridSearchCV</a:t>
            </a:r>
            <a:endParaRPr lang="en-US" sz="1200" dirty="0"/>
          </a:p>
        </p:txBody>
      </p:sp>
      <p:sp>
        <p:nvSpPr>
          <p:cNvPr id="38" name="Étape 8"/>
          <p:cNvSpPr/>
          <p:nvPr/>
        </p:nvSpPr>
        <p:spPr>
          <a:xfrm>
            <a:off x="6766560" y="29260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Numéro 8"/>
          <p:cNvSpPr/>
          <p:nvPr/>
        </p:nvSpPr>
        <p:spPr>
          <a:xfrm>
            <a:off x="694944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494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94944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Évaluation finale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Test + sauvegarde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Exploration : les mots qui trahissent un spam</a:t>
            </a:r>
            <a:endParaRPr lang="en-US" sz="3000" dirty="0"/>
          </a:p>
        </p:txBody>
      </p:sp>
      <p:pic>
        <p:nvPicPr>
          <p:cNvPr id="3" name="Graphique corrélations" descr="Corrélation des mots avec la cible : your, remove, 000, $ et free vers le spam ; hp, hpl, 1999, labs et george vers le h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937760" cy="3566160"/>
          </a:xfrm>
          <a:prstGeom prst="rect">
            <a:avLst/>
          </a:prstGeom>
        </p:spPr>
      </p:pic>
      <p:sp>
        <p:nvSpPr>
          <p:cNvPr id="4" name="Spam cercle"/>
          <p:cNvSpPr/>
          <p:nvPr/>
        </p:nvSpPr>
        <p:spPr>
          <a:xfrm>
            <a:off x="5577840" y="1143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pam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482" y="1253642"/>
            <a:ext cx="281635" cy="28163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63640" y="1124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Spam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263640" y="1417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Argent et appels à l'action : your, 000, $, free, remove, « ! » et MAJUSCULES.</a:t>
            </a:r>
            <a:endParaRPr lang="en-US" sz="1200" dirty="0"/>
          </a:p>
        </p:txBody>
      </p:sp>
      <p:sp>
        <p:nvSpPr>
          <p:cNvPr id="8" name="Ham cercle"/>
          <p:cNvSpPr/>
          <p:nvPr/>
        </p:nvSpPr>
        <p:spPr>
          <a:xfrm>
            <a:off x="5577840" y="2331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Ham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482" y="2442362"/>
            <a:ext cx="281635" cy="28163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63640" y="2313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Ham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6263640" y="26060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Vocabulaire interne à HP : hp, hpl, george, labs, 1999. Valable pour ces données seulement.</a:t>
            </a:r>
            <a:endParaRPr lang="en-US" sz="1200" dirty="0"/>
          </a:p>
        </p:txBody>
      </p:sp>
      <p:sp>
        <p:nvSpPr>
          <p:cNvPr id="12" name="Longue traîne cercle"/>
          <p:cNvSpPr/>
          <p:nvPr/>
        </p:nvSpPr>
        <p:spPr>
          <a:xfrm>
            <a:off x="5577840" y="3520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Longue traîne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482" y="3631082"/>
            <a:ext cx="281635" cy="28163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263640" y="35021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Longue traîne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6263640" y="37947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La plupart des valeurs valent 0 ; aucune variable seule ne suffit.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Préparation : un pipeline scikit-learn</a:t>
            </a:r>
            <a:endParaRPr lang="en-US" sz="3000" dirty="0"/>
          </a:p>
        </p:txBody>
      </p:sp>
      <p:sp>
        <p:nvSpPr>
          <p:cNvPr id="3" name="Étape pipeline 1"/>
          <p:cNvSpPr/>
          <p:nvPr/>
        </p:nvSpPr>
        <p:spPr>
          <a:xfrm>
            <a:off x="457200" y="1234440"/>
            <a:ext cx="1783080" cy="19659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57 variables brutes cercle"/>
          <p:cNvSpPr/>
          <p:nvPr/>
        </p:nvSpPr>
        <p:spPr>
          <a:xfrm>
            <a:off x="1005840" y="14173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57 variables brute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5681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57 variables brutes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786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Échelles de 0 à 15 841, longue traîne</a:t>
            </a:r>
            <a:endParaRPr lang="en-US" sz="1200" dirty="0"/>
          </a:p>
        </p:txBody>
      </p:sp>
      <p:sp>
        <p:nvSpPr>
          <p:cNvPr id="8" name="Flèche 1"/>
          <p:cNvSpPr/>
          <p:nvPr/>
        </p:nvSpPr>
        <p:spPr>
          <a:xfrm>
            <a:off x="2286000" y="2057400"/>
            <a:ext cx="274320" cy="32004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Étape pipeline 2"/>
          <p:cNvSpPr/>
          <p:nvPr/>
        </p:nvSpPr>
        <p:spPr>
          <a:xfrm>
            <a:off x="2606040" y="1234440"/>
            <a:ext cx="1783080" cy="19659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og(1 + x) cercle"/>
          <p:cNvSpPr/>
          <p:nvPr/>
        </p:nvSpPr>
        <p:spPr>
          <a:xfrm>
            <a:off x="3154680" y="141732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log(1 + x)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56" y="15681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log(1 + x)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5786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Écrase les très grandes valeurs</a:t>
            </a:r>
            <a:endParaRPr lang="en-US" sz="1200" dirty="0"/>
          </a:p>
        </p:txBody>
      </p:sp>
      <p:sp>
        <p:nvSpPr>
          <p:cNvPr id="14" name="Flèche 2"/>
          <p:cNvSpPr/>
          <p:nvPr/>
        </p:nvSpPr>
        <p:spPr>
          <a:xfrm>
            <a:off x="4434840" y="2057400"/>
            <a:ext cx="274320" cy="32004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Étape pipeline 3"/>
          <p:cNvSpPr/>
          <p:nvPr/>
        </p:nvSpPr>
        <p:spPr>
          <a:xfrm>
            <a:off x="4754880" y="1234440"/>
            <a:ext cx="1783080" cy="19659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ndardScaler cercle"/>
          <p:cNvSpPr/>
          <p:nvPr/>
        </p:nvSpPr>
        <p:spPr>
          <a:xfrm>
            <a:off x="5303520" y="14173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StandardScaler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96" y="15681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StandardScaler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5786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Moyenne 0, écart-type 1</a:t>
            </a:r>
            <a:endParaRPr lang="en-US" sz="1200" dirty="0"/>
          </a:p>
        </p:txBody>
      </p:sp>
      <p:sp>
        <p:nvSpPr>
          <p:cNvPr id="20" name="Flèche 3"/>
          <p:cNvSpPr/>
          <p:nvPr/>
        </p:nvSpPr>
        <p:spPr>
          <a:xfrm>
            <a:off x="6583680" y="2057400"/>
            <a:ext cx="274320" cy="32004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Étape pipeline 4"/>
          <p:cNvSpPr/>
          <p:nvPr/>
        </p:nvSpPr>
        <p:spPr>
          <a:xfrm>
            <a:off x="6903720" y="1234440"/>
            <a:ext cx="1783080" cy="19659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Modèle cercle"/>
          <p:cNvSpPr/>
          <p:nvPr/>
        </p:nvSpPr>
        <p:spPr>
          <a:xfrm>
            <a:off x="745236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Modèle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36" y="156819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Modèle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5786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Naive Bayes, régression, SVM, forêt</a:t>
            </a:r>
            <a:endParaRPr lang="en-US" sz="1200" dirty="0"/>
          </a:p>
        </p:txBody>
      </p:sp>
      <p:sp>
        <p:nvSpPr>
          <p:cNvPr id="26" name="Carte fuite de données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Fuite cercle"/>
          <p:cNvSpPr/>
          <p:nvPr/>
        </p:nvSpPr>
        <p:spPr>
          <a:xfrm>
            <a:off x="685800" y="37033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8" name="Fuite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" y="383407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08760" y="35661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Pas de fuite de données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 pipeline apprend ses paramètres sur le train uniquement, puis applique exactement les mêmes transformations aux plis de validation, au test et aux nouveaux emails.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Comparaison de 5 modèles (validation croisée)</a:t>
            </a:r>
            <a:endParaRPr lang="en-US" sz="3000" dirty="0"/>
          </a:p>
        </p:txBody>
      </p:sp>
      <p:pic>
        <p:nvPicPr>
          <p:cNvPr id="3" name="Graphique modèles" descr="Précision, rappel et F1 des 5 modèles en validation crois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394960" cy="3566160"/>
          </a:xfrm>
          <a:prstGeom prst="rect">
            <a:avLst/>
          </a:prstGeom>
        </p:spPr>
      </p:pic>
      <p:sp>
        <p:nvSpPr>
          <p:cNvPr id="4" name="Puce 1"/>
          <p:cNvSpPr/>
          <p:nvPr/>
        </p:nvSpPr>
        <p:spPr>
          <a:xfrm>
            <a:off x="6035040" y="1216152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143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Random Forest en tête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4356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F1 = 0,934 et average precision = 0,978</a:t>
            </a:r>
            <a:endParaRPr lang="en-US" sz="1200" dirty="0"/>
          </a:p>
        </p:txBody>
      </p:sp>
      <p:sp>
        <p:nvSpPr>
          <p:cNvPr id="7" name="Puce 2"/>
          <p:cNvSpPr/>
          <p:nvPr/>
        </p:nvSpPr>
        <p:spPr>
          <a:xfrm>
            <a:off x="6035040" y="2084832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2011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SVM ≈ régression logistique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2304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F1 ≈ 0,92 : le problème est presque linéaire</a:t>
            </a:r>
            <a:endParaRPr lang="en-US" sz="1200" dirty="0"/>
          </a:p>
        </p:txBody>
      </p:sp>
      <p:sp>
        <p:nvSpPr>
          <p:cNvPr id="10" name="Puce 3"/>
          <p:cNvSpPr/>
          <p:nvPr/>
        </p:nvSpPr>
        <p:spPr>
          <a:xfrm>
            <a:off x="6035040" y="2953512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Naive Bayes à la traîne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3172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Variables corrélées : l'hypothèse d'indépendance est fausse</a:t>
            </a:r>
            <a:endParaRPr lang="en-US" sz="1200" dirty="0"/>
          </a:p>
        </p:txBody>
      </p:sp>
      <p:sp>
        <p:nvSpPr>
          <p:cNvPr id="13" name="Puce 4"/>
          <p:cNvSpPr/>
          <p:nvPr/>
        </p:nvSpPr>
        <p:spPr>
          <a:xfrm>
            <a:off x="6035040" y="3822192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55080" y="3749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Baseline « toujours ham »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4041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60 % d'accuracy, mais 0 spam détecté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Fine-tuning : la Random Forest l'emporte</a:t>
            </a:r>
            <a:endParaRPr lang="en-US" sz="3000" dirty="0"/>
          </a:p>
        </p:txBody>
      </p:sp>
      <p:sp>
        <p:nvSpPr>
          <p:cNvPr id="3" name="Carte Random Forest"/>
          <p:cNvSpPr/>
          <p:nvPr/>
        </p:nvSpPr>
        <p:spPr>
          <a:xfrm>
            <a:off x="457200" y="1143000"/>
            <a:ext cx="38404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5" name="Badge retenue"/>
          <p:cNvSpPr/>
          <p:nvPr/>
        </p:nvSpPr>
        <p:spPr>
          <a:xfrm>
            <a:off x="3063240" y="1325880"/>
            <a:ext cx="100584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63240" y="1325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Retenue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0,977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801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average precision (CV 5 plis)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500 arbres · max_features = sqrt · feuilles ≥ 2</a:t>
            </a:r>
            <a:endParaRPr lang="en-US" sz="1200" dirty="0"/>
          </a:p>
        </p:txBody>
      </p:sp>
      <p:sp>
        <p:nvSpPr>
          <p:cNvPr id="10" name="Carte SVM (noyau RBF)"/>
          <p:cNvSpPr/>
          <p:nvPr/>
        </p:nvSpPr>
        <p:spPr>
          <a:xfrm>
            <a:off x="457200" y="2880360"/>
            <a:ext cx="38404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SVM (noyau RBF)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383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0,972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average precision (CV 5 plis)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77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 = 10 · gamma = 0,01</a:t>
            </a:r>
            <a:endParaRPr lang="en-US" sz="1200" dirty="0"/>
          </a:p>
        </p:txBody>
      </p:sp>
      <p:pic>
        <p:nvPicPr>
          <p:cNvPr id="15" name="Graphique importance" descr="Importance des variables de la Random Forest : ! , $, remove, free en tê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51560"/>
            <a:ext cx="4206240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Choisir le seuil : précision contre rappel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 visée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 (CV)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Rappel mesuré par validation croisée sur le train : le jeu de test n'est toujours pas utilisé.</a:t>
            </a:r>
            <a:endParaRPr lang="en-US" sz="1200" dirty="0"/>
          </a:p>
        </p:txBody>
      </p:sp>
      <p:sp>
        <p:nvSpPr>
          <p:cNvPr id="5" name="Carte seuil retenu"/>
          <p:cNvSpPr/>
          <p:nvPr/>
        </p:nvSpPr>
        <p:spPr>
          <a:xfrm>
            <a:off x="5029200" y="1188720"/>
            <a:ext cx="365760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euil cercle"/>
          <p:cNvSpPr/>
          <p:nvPr/>
        </p:nvSpPr>
        <p:spPr>
          <a:xfrm>
            <a:off x="5303520" y="14630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Seuil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4338" y="160385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Seuil retenu : 0,74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303520" y="23317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 plus 1 email sur 50 classé spam à tort.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Le filtre attrape encore près de 80 % des spams.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Passer à 99 % coûterait 12 points de rappel : 1 spam sur 3 passerait.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Résultats sur le jeu de test et suite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98,9 %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précision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80,7 %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rappel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506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vrais emails classés spam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91,9 %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accuracy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842 emails jamais vus · résultats proches de la validation croisée : pas de sur-apprentissage</a:t>
            </a:r>
            <a:endParaRPr lang="en-US" sz="1400" dirty="0"/>
          </a:p>
        </p:txBody>
      </p:sp>
      <p:sp>
        <p:nvSpPr>
          <p:cNvPr id="12" name="Carte Limite"/>
          <p:cNvSpPr/>
          <p:nvPr/>
        </p:nvSpPr>
        <p:spPr>
          <a:xfrm>
            <a:off x="457200" y="2834640"/>
            <a:ext cx="2615184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Limite cercle"/>
          <p:cNvSpPr/>
          <p:nvPr/>
        </p:nvSpPr>
        <p:spPr>
          <a:xfrm>
            <a:off x="68580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Limit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3128162"/>
            <a:ext cx="281635" cy="28163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2588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Limite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Données de 1999, une seule entreprise : à réentraîner sur des emails récents.</a:t>
            </a:r>
            <a:endParaRPr lang="en-US" sz="1200" dirty="0"/>
          </a:p>
        </p:txBody>
      </p:sp>
      <p:sp>
        <p:nvSpPr>
          <p:cNvPr id="17" name="Carte Étape suivante"/>
          <p:cNvSpPr/>
          <p:nvPr/>
        </p:nvSpPr>
        <p:spPr>
          <a:xfrm>
            <a:off x="3264408" y="2834640"/>
            <a:ext cx="2615184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Étape suivante cercle"/>
          <p:cNvSpPr/>
          <p:nvPr/>
        </p:nvSpPr>
        <p:spPr>
          <a:xfrm>
            <a:off x="3493008" y="3017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Étape suivante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50" y="3128162"/>
            <a:ext cx="281635" cy="28163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133088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Étape suivante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3493008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Partir des emails bruts (SpamAssassin) avec TF-IDF.</a:t>
            </a:r>
            <a:endParaRPr lang="en-US" sz="1200" dirty="0"/>
          </a:p>
        </p:txBody>
      </p:sp>
      <p:sp>
        <p:nvSpPr>
          <p:cNvPr id="22" name="Carte Déploiement"/>
          <p:cNvSpPr/>
          <p:nvPr/>
        </p:nvSpPr>
        <p:spPr>
          <a:xfrm>
            <a:off x="6071616" y="2834640"/>
            <a:ext cx="2615184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Déploiement cercle"/>
          <p:cNvSpPr/>
          <p:nvPr/>
        </p:nvSpPr>
        <p:spPr>
          <a:xfrm>
            <a:off x="6300216" y="301752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4" name="Déploiement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858" y="3128162"/>
            <a:ext cx="281635" cy="28163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940296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Déploiement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300216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Petite application, puis suivi du modèle dans le temps.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m Detector">
  <a:themeElements>
    <a:clrScheme name="Spam Detector">
      <a:dk1>
        <a:srgbClr val="1B1F2B"/>
      </a:dk1>
      <a:lt1>
        <a:srgbClr val="FFFFFF"/>
      </a:lt1>
      <a:dk2>
        <a:srgbClr val="22283A"/>
      </a:dk2>
      <a:lt2>
        <a:srgbClr val="F1F3F7"/>
      </a:lt2>
      <a:accent1>
        <a:srgbClr val="D7263D"/>
      </a:accent1>
      <a:accent2>
        <a:srgbClr val="1B998B"/>
      </a:accent2>
      <a:accent3>
        <a:srgbClr val="F4A259"/>
      </a:accent3>
      <a:accent4>
        <a:srgbClr val="5C6B8A"/>
      </a:accent4>
      <a:accent5>
        <a:srgbClr val="8D99AE"/>
      </a:accent5>
      <a:accent6>
        <a:srgbClr val="2E86AB"/>
      </a:accent6>
      <a:hlink>
        <a:srgbClr val="2E86AB"/>
      </a:hlink>
      <a:folHlink>
        <a:srgbClr val="5C6B8A"/>
      </a:folHlink>
    </a:clrScheme>
    <a:fontScheme name="Spam Detec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Spam Detector</dc:title>
  <dc:subject>PptxGenJS Presentation</dc:subject>
  <dc:creator>Wissem Sahli</dc:creator>
  <cp:lastModifiedBy>Wissem Sahli</cp:lastModifiedBy>
  <cp:revision>1</cp:revision>
  <dcterms:created xsi:type="dcterms:W3CDTF">2026-10-16T22:29:07Z</dcterms:created>
  <dcterms:modified xsi:type="dcterms:W3CDTF">2026-10-16T22:29:07Z</dcterms:modified>
</cp:coreProperties>
</file>